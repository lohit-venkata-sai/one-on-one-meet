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slideLayout9.xml" ContentType="application/vnd.openxmlformats-officedocument.presentationml.slideLayout+xml"/>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35.xml" ContentType="application/vnd.openxmlformats-officedocument.presentationml.slideLayout+xml"/>
  <Override PartName="/ppt/slideLayouts/slideLayout5.xml" ContentType="application/vnd.openxmlformats-officedocument.presentationml.slideLayout+xml"/>
  <Override PartName="/ppt/slideLayouts/slideLayout3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_rels/slideLayout9.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31.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media/image9.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8.png" ContentType="image/png"/>
  <Override PartName="/ppt/media/image29.png" ContentType="image/png"/>
  <Override PartName="/ppt/media/image30.png" ContentType="image/png"/>
  <Override PartName="/ppt/media/image31.png" ContentType="image/png"/>
  <Override PartName="/ppt/media/image32.png" ContentType="image/png"/>
  <Override PartName="/ppt/media/image33.png" ContentType="image/png"/>
  <Override PartName="/ppt/media/image34.png" ContentType="image/png"/>
  <Override PartName="/ppt/media/image35.png" ContentType="image/png"/>
  <Override PartName="/ppt/media/image36.png" ContentType="image/png"/>
  <Override PartName="/ppt/media/image37.png" ContentType="image/png"/>
  <Override PartName="/ppt/media/image38.png" ContentType="image/png"/>
  <Override PartName="/ppt/media/image39.png" ContentType="image/png"/>
  <Override PartName="/ppt/media/image40.png" ContentType="image/png"/>
  <Override PartName="/ppt/media/image41.png" ContentType="image/png"/>
  <Override PartName="/ppt/media/image42.png" ContentType="image/png"/>
  <Override PartName="/ppt/media/image43.png" ContentType="image/png"/>
  <Override PartName="/ppt/_rels/presentation.xml.rels" ContentType="application/vnd.openxmlformats-package.relationships+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9.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0.xml.rels" ContentType="application/vnd.openxmlformats-package.relationships+xml"/>
  <Override PartName="/ppt/slides/_rels/slide21.xml.rels" ContentType="application/vnd.openxmlformats-package.relationships+xml"/>
  <Override PartName="/ppt/slides/_rels/slide22.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x="12192000" cy="685800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41" name="PlaceHolder 2"/>
          <p:cNvSpPr>
            <a:spLocks noGrp="1"/>
          </p:cNvSpPr>
          <p:nvPr>
            <p:ph type="subTitle"/>
          </p:nvPr>
        </p:nvSpPr>
        <p:spPr>
          <a:xfrm>
            <a:off x="609480" y="1604520"/>
            <a:ext cx="10972440" cy="397728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43"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45"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46"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5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51"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52"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54"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55"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56"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58"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60"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62"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63"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67"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68"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70"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71"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72"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73"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74"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75"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9"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80" name="PlaceHolder 2"/>
          <p:cNvSpPr>
            <a:spLocks noGrp="1"/>
          </p:cNvSpPr>
          <p:nvPr>
            <p:ph type="subTitle"/>
          </p:nvPr>
        </p:nvSpPr>
        <p:spPr>
          <a:xfrm>
            <a:off x="609480" y="1604520"/>
            <a:ext cx="10972440" cy="397728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82"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84"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85"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6"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7" name="PlaceHolder 1"/>
          <p:cNvSpPr>
            <a:spLocks noGrp="1"/>
          </p:cNvSpPr>
          <p:nvPr>
            <p:ph type="subTitle"/>
          </p:nvPr>
        </p:nvSpPr>
        <p:spPr>
          <a:xfrm>
            <a:off x="609480" y="273600"/>
            <a:ext cx="10972440" cy="53078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89"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90"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91"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93"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94"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95"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9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9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99"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101"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102"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104"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05"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06"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107"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109"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110"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111"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112"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113"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114"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39"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9f9"/>
        </a:solidFill>
      </p:bgPr>
    </p:bg>
    <p:spTree>
      <p:nvGrpSpPr>
        <p:cNvPr id="1" name=""/>
        <p:cNvGrpSpPr/>
        <p:nvPr/>
      </p:nvGrpSpPr>
      <p:grpSpPr>
        <a:xfrm>
          <a:off x="0" y="0"/>
          <a:ext cx="0" cy="0"/>
          <a:chOff x="0" y="0"/>
          <a:chExt cx="0" cy="0"/>
        </a:xfrm>
      </p:grpSpPr>
      <p:pic>
        <p:nvPicPr>
          <p:cNvPr id="76" name="Picture 2" descr=""/>
          <p:cNvPicPr/>
          <p:nvPr/>
        </p:nvPicPr>
        <p:blipFill>
          <a:blip r:embed="rId2"/>
          <a:stretch/>
        </p:blipFill>
        <p:spPr>
          <a:xfrm>
            <a:off x="10241280" y="320040"/>
            <a:ext cx="1584720" cy="823320"/>
          </a:xfrm>
          <a:prstGeom prst="rect">
            <a:avLst/>
          </a:prstGeom>
          <a:ln>
            <a:noFill/>
          </a:ln>
        </p:spPr>
      </p:pic>
      <p:sp>
        <p:nvSpPr>
          <p:cNvPr id="7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78"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hyperlink" Target="https://naipunyam.ap.gov.in/" TargetMode="Externa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5" name="Picture 5" descr=""/>
          <p:cNvPicPr/>
          <p:nvPr/>
        </p:nvPicPr>
        <p:blipFill>
          <a:blip r:embed="rId1"/>
          <a:stretch/>
        </p:blipFill>
        <p:spPr>
          <a:xfrm>
            <a:off x="174600" y="619920"/>
            <a:ext cx="5919480" cy="5616360"/>
          </a:xfrm>
          <a:prstGeom prst="rect">
            <a:avLst/>
          </a:prstGeom>
          <a:ln>
            <a:noFill/>
          </a:ln>
        </p:spPr>
      </p:pic>
      <p:sp>
        <p:nvSpPr>
          <p:cNvPr id="116" name="CustomShape 1"/>
          <p:cNvSpPr/>
          <p:nvPr/>
        </p:nvSpPr>
        <p:spPr>
          <a:xfrm>
            <a:off x="6216480" y="4281840"/>
            <a:ext cx="5919480" cy="984240"/>
          </a:xfrm>
          <a:prstGeom prst="rect">
            <a:avLst/>
          </a:prstGeom>
          <a:noFill/>
          <a:ln>
            <a:noFill/>
          </a:ln>
        </p:spPr>
        <p:style>
          <a:lnRef idx="0"/>
          <a:fillRef idx="0"/>
          <a:effectRef idx="0"/>
          <a:fontRef idx="minor"/>
        </p:style>
        <p:txBody>
          <a:bodyPr lIns="90000" rIns="90000" tIns="45000" bIns="45000">
            <a:spAutoFit/>
          </a:bodyPr>
          <a:p>
            <a:pPr algn="ctr">
              <a:lnSpc>
                <a:spcPct val="90000"/>
              </a:lnSpc>
              <a:spcBef>
                <a:spcPts val="1001"/>
              </a:spcBef>
            </a:pPr>
            <a:r>
              <a:rPr b="1" lang="en-US" sz="2800" spc="-1" strike="noStrike">
                <a:solidFill>
                  <a:srgbClr val="000000"/>
                </a:solidFill>
                <a:latin typeface="Helvetica neue"/>
                <a:ea typeface="DejaVu Sans"/>
              </a:rPr>
              <a:t>Citizen LOGIN</a:t>
            </a:r>
            <a:endParaRPr b="0" lang="en-US" sz="2800" spc="-1" strike="noStrike">
              <a:latin typeface="Arial"/>
            </a:endParaRPr>
          </a:p>
          <a:p>
            <a:pPr algn="ctr">
              <a:lnSpc>
                <a:spcPct val="90000"/>
              </a:lnSpc>
              <a:spcBef>
                <a:spcPts val="1001"/>
              </a:spcBef>
            </a:pPr>
            <a:endParaRPr b="0" lang="en-US" sz="2800" spc="-1" strike="noStrike">
              <a:latin typeface="Arial"/>
            </a:endParaRPr>
          </a:p>
        </p:txBody>
      </p:sp>
      <p:pic>
        <p:nvPicPr>
          <p:cNvPr id="117" name="Picture 5" descr=""/>
          <p:cNvPicPr/>
          <p:nvPr/>
        </p:nvPicPr>
        <p:blipFill>
          <a:blip r:embed="rId2"/>
          <a:stretch/>
        </p:blipFill>
        <p:spPr>
          <a:xfrm>
            <a:off x="10856160" y="59760"/>
            <a:ext cx="1036800" cy="1118520"/>
          </a:xfrm>
          <a:prstGeom prst="rect">
            <a:avLst/>
          </a:prstGeom>
          <a:ln>
            <a:noFill/>
          </a:ln>
        </p:spPr>
      </p:pic>
      <p:pic>
        <p:nvPicPr>
          <p:cNvPr id="118" name="Picture 10" descr=""/>
          <p:cNvPicPr/>
          <p:nvPr/>
        </p:nvPicPr>
        <p:blipFill>
          <a:blip r:embed="rId3"/>
          <a:stretch/>
        </p:blipFill>
        <p:spPr>
          <a:xfrm>
            <a:off x="6815520" y="2868840"/>
            <a:ext cx="4785480" cy="1118520"/>
          </a:xfrm>
          <a:prstGeom prst="rect">
            <a:avLst/>
          </a:prstGeom>
          <a:ln>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CustomShape 1"/>
          <p:cNvSpPr/>
          <p:nvPr/>
        </p:nvSpPr>
        <p:spPr>
          <a:xfrm>
            <a:off x="24120" y="54720"/>
            <a:ext cx="3816000" cy="859320"/>
          </a:xfrm>
          <a:prstGeom prst="rect">
            <a:avLst/>
          </a:prstGeom>
          <a:noFill/>
          <a:ln>
            <a:noFill/>
          </a:ln>
        </p:spPr>
        <p:style>
          <a:lnRef idx="0"/>
          <a:fillRef idx="0"/>
          <a:effectRef idx="0"/>
          <a:fontRef idx="minor"/>
        </p:style>
        <p:txBody>
          <a:bodyPr lIns="90000" rIns="90000" tIns="45000" bIns="45000" anchor="ctr">
            <a:noAutofit/>
          </a:bodyPr>
          <a:p>
            <a:pPr>
              <a:lnSpc>
                <a:spcPct val="90000"/>
              </a:lnSpc>
            </a:pPr>
            <a:r>
              <a:rPr b="0" lang="en-US" sz="2000" spc="-1" strike="noStrike">
                <a:solidFill>
                  <a:srgbClr val="000000"/>
                </a:solidFill>
                <a:latin typeface="Arial"/>
                <a:ea typeface="DejaVu Sans"/>
              </a:rPr>
              <a:t>Citizen Registration</a:t>
            </a:r>
            <a:endParaRPr b="0" lang="en-US" sz="2000" spc="-1" strike="noStrike">
              <a:latin typeface="Arial"/>
            </a:endParaRPr>
          </a:p>
        </p:txBody>
      </p:sp>
      <p:sp>
        <p:nvSpPr>
          <p:cNvPr id="120" name="CustomShape 2"/>
          <p:cNvSpPr/>
          <p:nvPr/>
        </p:nvSpPr>
        <p:spPr>
          <a:xfrm>
            <a:off x="113040" y="688320"/>
            <a:ext cx="11964240" cy="6167880"/>
          </a:xfrm>
          <a:prstGeom prst="rect">
            <a:avLst/>
          </a:prstGeom>
          <a:noFill/>
          <a:ln>
            <a:noFill/>
          </a:ln>
        </p:spPr>
        <p:style>
          <a:lnRef idx="0"/>
          <a:fillRef idx="0"/>
          <a:effectRef idx="0"/>
          <a:fontRef idx="minor"/>
        </p:style>
        <p:txBody>
          <a:bodyPr lIns="90000" rIns="90000" tIns="45000" bIns="45000">
            <a:noAutofit/>
          </a:bodyPr>
          <a:p>
            <a:pPr>
              <a:lnSpc>
                <a:spcPct val="90000"/>
              </a:lnSpc>
              <a:spcBef>
                <a:spcPts val="1001"/>
              </a:spcBef>
            </a:pPr>
            <a:r>
              <a:rPr b="0" lang="en-US" sz="1600" spc="-1" strike="noStrike">
                <a:solidFill>
                  <a:srgbClr val="000000"/>
                </a:solidFill>
                <a:latin typeface="Calibri"/>
                <a:ea typeface="DejaVu Sans"/>
              </a:rPr>
              <a:t>1</a:t>
            </a:r>
            <a:r>
              <a:rPr b="0" lang="en-US" sz="2800" spc="-1" strike="noStrike">
                <a:solidFill>
                  <a:srgbClr val="000000"/>
                </a:solidFill>
                <a:latin typeface="Calibri"/>
                <a:ea typeface="DejaVu Sans"/>
              </a:rPr>
              <a:t>. </a:t>
            </a:r>
            <a:r>
              <a:rPr b="0" lang="en-US" sz="1600" spc="-1" strike="noStrike">
                <a:solidFill>
                  <a:srgbClr val="000000"/>
                </a:solidFill>
                <a:latin typeface="Calibri"/>
                <a:ea typeface="DejaVu Sans"/>
              </a:rPr>
              <a:t>As First step user need do access web portal by accessing the following link On The Web Browser Page.</a:t>
            </a:r>
            <a:endParaRPr b="0" lang="en-US" sz="1600" spc="-1" strike="noStrike">
              <a:latin typeface="Arial"/>
            </a:endParaRPr>
          </a:p>
          <a:p>
            <a:pPr>
              <a:lnSpc>
                <a:spcPct val="90000"/>
              </a:lnSpc>
              <a:spcBef>
                <a:spcPts val="1001"/>
              </a:spcBef>
            </a:pPr>
            <a:r>
              <a:rPr b="0" lang="en-US" sz="1600" spc="-1" strike="noStrike">
                <a:solidFill>
                  <a:srgbClr val="000000"/>
                </a:solidFill>
                <a:latin typeface="Calibri"/>
                <a:ea typeface="DejaVu Sans"/>
              </a:rPr>
              <a:t>                                                          </a:t>
            </a:r>
            <a:r>
              <a:rPr b="1" lang="en-US" sz="1600" spc="-1" strike="noStrike">
                <a:solidFill>
                  <a:srgbClr val="000000"/>
                </a:solidFill>
                <a:latin typeface="Calibri"/>
                <a:ea typeface="DejaVu Sans"/>
              </a:rPr>
              <a:t>Web Url: </a:t>
            </a:r>
            <a:r>
              <a:rPr b="0" lang="en-US" sz="1600" spc="-1" strike="noStrike" u="sng">
                <a:solidFill>
                  <a:srgbClr val="0000ff"/>
                </a:solidFill>
                <a:uFillTx/>
                <a:latin typeface="Calibri"/>
                <a:ea typeface="DejaVu Sans"/>
                <a:hlinkClick r:id="rId1"/>
              </a:rPr>
              <a:t>https://naipunyam.ap.gov.in/</a:t>
            </a:r>
            <a:endParaRPr b="0" lang="en-US" sz="1600" spc="-1" strike="noStrike">
              <a:latin typeface="Arial"/>
            </a:endParaRPr>
          </a:p>
          <a:p>
            <a:pPr>
              <a:lnSpc>
                <a:spcPct val="90000"/>
              </a:lnSpc>
              <a:spcBef>
                <a:spcPts val="1001"/>
              </a:spcBef>
            </a:pPr>
            <a:r>
              <a:rPr b="0" lang="en-US" sz="1600" spc="-1" strike="noStrike">
                <a:solidFill>
                  <a:srgbClr val="000000"/>
                </a:solidFill>
                <a:latin typeface="Calibri"/>
                <a:ea typeface="DejaVu Sans"/>
              </a:rPr>
              <a:t>       </a:t>
            </a:r>
            <a:r>
              <a:rPr b="0" lang="en-US" sz="1600" spc="-1" strike="noStrike">
                <a:solidFill>
                  <a:srgbClr val="000000"/>
                </a:solidFill>
                <a:latin typeface="Calibri"/>
                <a:ea typeface="DejaVu Sans"/>
              </a:rPr>
              <a:t>Following screen will Be Visible</a:t>
            </a: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r>
              <a:rPr b="0" lang="en-US" sz="1600" spc="-1" strike="noStrike">
                <a:solidFill>
                  <a:srgbClr val="000000"/>
                </a:solidFill>
                <a:latin typeface="Calibri"/>
                <a:ea typeface="DejaVu Sans"/>
              </a:rPr>
              <a:t> </a:t>
            </a: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r>
              <a:rPr b="0" lang="en-US" sz="1600" spc="-1" strike="noStrike">
                <a:solidFill>
                  <a:srgbClr val="000000"/>
                </a:solidFill>
                <a:latin typeface="Calibri"/>
                <a:ea typeface="DejaVu Sans"/>
              </a:rPr>
              <a:t> </a:t>
            </a:r>
            <a:r>
              <a:rPr b="0" lang="en-US" sz="1600" spc="-1" strike="noStrike">
                <a:solidFill>
                  <a:srgbClr val="000000"/>
                </a:solidFill>
                <a:latin typeface="Calibri"/>
                <a:ea typeface="DejaVu Sans"/>
              </a:rPr>
              <a:t>2. Now the user can see both the Login and Home buttons on the Home page. The user needs to click on the Login button and select Citizen.</a:t>
            </a:r>
            <a:endParaRPr b="0" lang="en-US" sz="1600" spc="-1" strike="noStrike">
              <a:latin typeface="Arial"/>
            </a:endParaRPr>
          </a:p>
          <a:p>
            <a:pPr>
              <a:lnSpc>
                <a:spcPct val="90000"/>
              </a:lnSpc>
              <a:spcBef>
                <a:spcPts val="1001"/>
              </a:spcBef>
            </a:pPr>
            <a:r>
              <a:rPr b="0" lang="en-US" sz="1600" spc="-1" strike="noStrike">
                <a:solidFill>
                  <a:srgbClr val="000000"/>
                </a:solidFill>
                <a:latin typeface="Calibri"/>
                <a:ea typeface="DejaVu Sans"/>
              </a:rPr>
              <a:t>3. Enter the username and password, then click Login.</a:t>
            </a:r>
            <a:endParaRPr b="0" lang="en-US" sz="1600" spc="-1" strike="noStrike">
              <a:latin typeface="Arial"/>
            </a:endParaRPr>
          </a:p>
          <a:p>
            <a:pPr>
              <a:lnSpc>
                <a:spcPct val="90000"/>
              </a:lnSpc>
              <a:spcBef>
                <a:spcPts val="1001"/>
              </a:spcBef>
            </a:pPr>
            <a:r>
              <a:rPr b="0" lang="en-US" sz="1600" spc="-1" strike="noStrike">
                <a:solidFill>
                  <a:srgbClr val="000000"/>
                </a:solidFill>
                <a:latin typeface="Calibri"/>
                <a:ea typeface="DejaVu Sans"/>
              </a:rPr>
              <a:t>4.Here user need to click on register as citizen button, user can even do registration through resume build and registration of skill courses.</a:t>
            </a:r>
            <a:endParaRPr b="0" lang="en-US" sz="1600" spc="-1" strike="noStrike">
              <a:latin typeface="Arial"/>
            </a:endParaRPr>
          </a:p>
        </p:txBody>
      </p:sp>
      <p:pic>
        <p:nvPicPr>
          <p:cNvPr id="121" name="" descr=""/>
          <p:cNvPicPr/>
          <p:nvPr/>
        </p:nvPicPr>
        <p:blipFill>
          <a:blip r:embed="rId2"/>
          <a:stretch/>
        </p:blipFill>
        <p:spPr>
          <a:xfrm>
            <a:off x="548640" y="2011680"/>
            <a:ext cx="6949080" cy="2651040"/>
          </a:xfrm>
          <a:prstGeom prst="rect">
            <a:avLst/>
          </a:prstGeom>
          <a:ln>
            <a:noFill/>
          </a:ln>
        </p:spPr>
      </p:pic>
      <p:pic>
        <p:nvPicPr>
          <p:cNvPr id="122" name="" descr=""/>
          <p:cNvPicPr/>
          <p:nvPr/>
        </p:nvPicPr>
        <p:blipFill>
          <a:blip r:embed="rId3"/>
          <a:stretch/>
        </p:blipFill>
        <p:spPr>
          <a:xfrm>
            <a:off x="7854480" y="1371600"/>
            <a:ext cx="3666600" cy="3474360"/>
          </a:xfrm>
          <a:prstGeom prst="rect">
            <a:avLst/>
          </a:prstGeom>
          <a:ln>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CustomShape 1"/>
          <p:cNvSpPr/>
          <p:nvPr/>
        </p:nvSpPr>
        <p:spPr>
          <a:xfrm>
            <a:off x="169200" y="296280"/>
            <a:ext cx="4440960" cy="1166400"/>
          </a:xfrm>
          <a:prstGeom prst="rect">
            <a:avLst/>
          </a:prstGeom>
          <a:noFill/>
          <a:ln>
            <a:noFill/>
          </a:ln>
        </p:spPr>
        <p:style>
          <a:lnRef idx="0"/>
          <a:fillRef idx="0"/>
          <a:effectRef idx="0"/>
          <a:fontRef idx="minor"/>
        </p:style>
      </p:sp>
      <p:sp>
        <p:nvSpPr>
          <p:cNvPr id="124" name="CustomShape 2"/>
          <p:cNvSpPr/>
          <p:nvPr/>
        </p:nvSpPr>
        <p:spPr>
          <a:xfrm>
            <a:off x="1528200" y="4620600"/>
            <a:ext cx="9133560" cy="1870200"/>
          </a:xfrm>
          <a:prstGeom prst="rect">
            <a:avLst/>
          </a:prstGeom>
          <a:noFill/>
          <a:ln>
            <a:noFill/>
          </a:ln>
        </p:spPr>
        <p:style>
          <a:lnRef idx="0"/>
          <a:fillRef idx="0"/>
          <a:effectRef idx="0"/>
          <a:fontRef idx="minor"/>
        </p:style>
        <p:txBody>
          <a:bodyPr lIns="90000" rIns="90000" tIns="45000" bIns="45000">
            <a:normAutofit/>
          </a:bodyPr>
          <a:p>
            <a:pPr>
              <a:lnSpc>
                <a:spcPct val="90000"/>
              </a:lnSpc>
              <a:spcBef>
                <a:spcPts val="1001"/>
              </a:spcBef>
            </a:pPr>
            <a:endParaRPr b="0" lang="en-US" sz="1800" spc="-1" strike="noStrike">
              <a:latin typeface="Arial"/>
            </a:endParaRPr>
          </a:p>
          <a:p>
            <a:pPr>
              <a:lnSpc>
                <a:spcPct val="90000"/>
              </a:lnSpc>
              <a:spcBef>
                <a:spcPts val="1001"/>
              </a:spcBef>
            </a:pPr>
            <a:endParaRPr b="0" lang="en-US" sz="1800" spc="-1" strike="noStrike">
              <a:latin typeface="Arial"/>
            </a:endParaRPr>
          </a:p>
          <a:p>
            <a:pPr>
              <a:lnSpc>
                <a:spcPct val="90000"/>
              </a:lnSpc>
              <a:spcBef>
                <a:spcPts val="1001"/>
              </a:spcBef>
            </a:pPr>
            <a:endParaRPr b="0" lang="en-US" sz="1800" spc="-1" strike="noStrike">
              <a:latin typeface="Arial"/>
            </a:endParaRPr>
          </a:p>
          <a:p>
            <a:pPr>
              <a:lnSpc>
                <a:spcPct val="90000"/>
              </a:lnSpc>
              <a:spcBef>
                <a:spcPts val="1001"/>
              </a:spcBef>
            </a:pPr>
            <a:r>
              <a:rPr b="0" lang="en-US" sz="1600" spc="-1" strike="noStrike">
                <a:solidFill>
                  <a:srgbClr val="000000"/>
                </a:solidFill>
                <a:latin typeface="Calibri"/>
                <a:ea typeface="Microsoft YaHei"/>
              </a:rPr>
              <a:t>5.The user needs to enter the Aadhaar number and click on the Send OTP button.</a:t>
            </a: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p:txBody>
      </p:sp>
      <p:pic>
        <p:nvPicPr>
          <p:cNvPr id="125" name="" descr=""/>
          <p:cNvPicPr/>
          <p:nvPr/>
        </p:nvPicPr>
        <p:blipFill>
          <a:blip r:embed="rId1"/>
          <a:stretch/>
        </p:blipFill>
        <p:spPr>
          <a:xfrm>
            <a:off x="1005840" y="640080"/>
            <a:ext cx="9600840" cy="4532400"/>
          </a:xfrm>
          <a:prstGeom prst="rect">
            <a:avLst/>
          </a:prstGeom>
          <a:ln>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CustomShape 1"/>
          <p:cNvSpPr/>
          <p:nvPr/>
        </p:nvSpPr>
        <p:spPr>
          <a:xfrm>
            <a:off x="184680" y="244800"/>
            <a:ext cx="4430520" cy="1122840"/>
          </a:xfrm>
          <a:prstGeom prst="rect">
            <a:avLst/>
          </a:prstGeom>
          <a:noFill/>
          <a:ln>
            <a:noFill/>
          </a:ln>
        </p:spPr>
        <p:style>
          <a:lnRef idx="0"/>
          <a:fillRef idx="0"/>
          <a:effectRef idx="0"/>
          <a:fontRef idx="minor"/>
        </p:style>
        <p:txBody>
          <a:bodyPr lIns="90000" rIns="90000" tIns="45000" bIns="45000" anchor="ctr">
            <a:noAutofit/>
          </a:bodyPr>
          <a:p>
            <a:pPr>
              <a:lnSpc>
                <a:spcPct val="90000"/>
              </a:lnSpc>
            </a:pPr>
            <a:br/>
            <a:endParaRPr b="0" lang="en-US" sz="1800" spc="-1" strike="noStrike">
              <a:latin typeface="Arial"/>
            </a:endParaRPr>
          </a:p>
        </p:txBody>
      </p:sp>
      <p:sp>
        <p:nvSpPr>
          <p:cNvPr id="127" name="CustomShape 2"/>
          <p:cNvSpPr/>
          <p:nvPr/>
        </p:nvSpPr>
        <p:spPr>
          <a:xfrm>
            <a:off x="1207800" y="4322880"/>
            <a:ext cx="9133560" cy="2312640"/>
          </a:xfrm>
          <a:prstGeom prst="rect">
            <a:avLst/>
          </a:prstGeom>
          <a:noFill/>
          <a:ln>
            <a:noFill/>
          </a:ln>
        </p:spPr>
        <p:style>
          <a:lnRef idx="0"/>
          <a:fillRef idx="0"/>
          <a:effectRef idx="0"/>
          <a:fontRef idx="minor"/>
        </p:style>
        <p:txBody>
          <a:bodyPr lIns="90000" rIns="90000" tIns="45000" bIns="45000">
            <a:normAutofit/>
          </a:bodyPr>
          <a:p>
            <a:pPr>
              <a:lnSpc>
                <a:spcPct val="90000"/>
              </a:lnSpc>
              <a:spcBef>
                <a:spcPts val="1001"/>
              </a:spcBef>
            </a:pPr>
            <a:r>
              <a:rPr b="0" lang="en-US" sz="1600" spc="-1" strike="noStrike">
                <a:solidFill>
                  <a:srgbClr val="000000"/>
                </a:solidFill>
                <a:latin typeface="Calibri"/>
                <a:ea typeface="DejaVu Sans"/>
              </a:rPr>
              <a:t> </a:t>
            </a: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p:txBody>
      </p:sp>
      <p:sp>
        <p:nvSpPr>
          <p:cNvPr id="128" name="CustomShape 3"/>
          <p:cNvSpPr/>
          <p:nvPr/>
        </p:nvSpPr>
        <p:spPr>
          <a:xfrm>
            <a:off x="924840" y="4621680"/>
            <a:ext cx="9788760" cy="1715040"/>
          </a:xfrm>
          <a:prstGeom prst="rect">
            <a:avLst/>
          </a:prstGeom>
          <a:noFill/>
          <a:ln>
            <a:noFill/>
          </a:ln>
        </p:spPr>
        <p:style>
          <a:lnRef idx="0"/>
          <a:fillRef idx="0"/>
          <a:effectRef idx="0"/>
          <a:fontRef idx="minor"/>
        </p:style>
        <p:txBody>
          <a:bodyPr lIns="90000" rIns="90000" tIns="45000" bIns="45000">
            <a:normAutofit/>
          </a:bodyPr>
          <a:p>
            <a:pPr>
              <a:lnSpc>
                <a:spcPct val="90000"/>
              </a:lnSpc>
              <a:spcBef>
                <a:spcPts val="1001"/>
              </a:spcBef>
            </a:pPr>
            <a:r>
              <a:rPr b="0" lang="en-US" sz="1600" spc="-1" strike="noStrike">
                <a:solidFill>
                  <a:srgbClr val="000000"/>
                </a:solidFill>
                <a:latin typeface="Calibri"/>
                <a:ea typeface="DejaVu Sans"/>
              </a:rPr>
              <a:t> </a:t>
            </a:r>
            <a:endParaRPr b="0" lang="en-US" sz="1600" spc="-1" strike="noStrike">
              <a:latin typeface="Arial"/>
            </a:endParaRPr>
          </a:p>
          <a:p>
            <a:pPr>
              <a:lnSpc>
                <a:spcPct val="90000"/>
              </a:lnSpc>
              <a:spcBef>
                <a:spcPts val="1001"/>
              </a:spcBef>
            </a:pPr>
            <a:r>
              <a:rPr b="0" lang="en-US" sz="1600" spc="-1" strike="noStrike">
                <a:solidFill>
                  <a:srgbClr val="000000"/>
                </a:solidFill>
                <a:latin typeface="Calibri"/>
                <a:ea typeface="DejaVu Sans"/>
              </a:rPr>
              <a:t>6. The user needs to enter the OTP and click on the Verify &amp; Continue button.</a:t>
            </a:r>
            <a:endParaRPr b="0" lang="en-US" sz="1600" spc="-1" strike="noStrike">
              <a:latin typeface="Arial"/>
            </a:endParaRPr>
          </a:p>
          <a:p>
            <a:pPr>
              <a:lnSpc>
                <a:spcPct val="90000"/>
              </a:lnSpc>
              <a:spcBef>
                <a:spcPts val="1001"/>
              </a:spcBef>
            </a:pPr>
            <a:r>
              <a:rPr b="0" lang="en-US" sz="1600" spc="-1" strike="noStrike">
                <a:solidFill>
                  <a:srgbClr val="000000"/>
                </a:solidFill>
                <a:latin typeface="Calibri"/>
                <a:ea typeface="DejaVu Sans"/>
              </a:rPr>
              <a:t>7.If the user doesn’t receive the OTP, they need to click on the Resend OTP button.</a:t>
            </a: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p:txBody>
      </p:sp>
      <p:pic>
        <p:nvPicPr>
          <p:cNvPr id="129" name="" descr=""/>
          <p:cNvPicPr/>
          <p:nvPr/>
        </p:nvPicPr>
        <p:blipFill>
          <a:blip r:embed="rId1"/>
          <a:stretch/>
        </p:blipFill>
        <p:spPr>
          <a:xfrm>
            <a:off x="1280160" y="365760"/>
            <a:ext cx="9692280" cy="4388760"/>
          </a:xfrm>
          <a:prstGeom prst="rect">
            <a:avLst/>
          </a:prstGeom>
          <a:ln>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CustomShape 1"/>
          <p:cNvSpPr/>
          <p:nvPr/>
        </p:nvSpPr>
        <p:spPr>
          <a:xfrm>
            <a:off x="924840" y="4621680"/>
            <a:ext cx="9788760" cy="1715040"/>
          </a:xfrm>
          <a:prstGeom prst="rect">
            <a:avLst/>
          </a:prstGeom>
          <a:noFill/>
          <a:ln>
            <a:noFill/>
          </a:ln>
        </p:spPr>
        <p:style>
          <a:lnRef idx="0"/>
          <a:fillRef idx="0"/>
          <a:effectRef idx="0"/>
          <a:fontRef idx="minor"/>
        </p:style>
        <p:txBody>
          <a:bodyPr lIns="90000" rIns="90000" tIns="45000" bIns="45000">
            <a:normAutofit/>
          </a:bodyPr>
          <a:p>
            <a:pPr>
              <a:lnSpc>
                <a:spcPct val="90000"/>
              </a:lnSpc>
              <a:spcBef>
                <a:spcPts val="1001"/>
              </a:spcBef>
            </a:pPr>
            <a:r>
              <a:rPr b="0" lang="en-US" sz="1600" spc="-1" strike="noStrike">
                <a:solidFill>
                  <a:srgbClr val="000000"/>
                </a:solidFill>
                <a:latin typeface="Calibri"/>
                <a:ea typeface="DejaVu Sans"/>
              </a:rPr>
              <a:t> </a:t>
            </a: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p:txBody>
      </p:sp>
      <p:sp>
        <p:nvSpPr>
          <p:cNvPr id="131" name="CustomShape 2"/>
          <p:cNvSpPr/>
          <p:nvPr/>
        </p:nvSpPr>
        <p:spPr>
          <a:xfrm>
            <a:off x="1077120" y="4773960"/>
            <a:ext cx="9788760" cy="1715040"/>
          </a:xfrm>
          <a:prstGeom prst="rect">
            <a:avLst/>
          </a:prstGeom>
          <a:noFill/>
          <a:ln>
            <a:noFill/>
          </a:ln>
        </p:spPr>
        <p:style>
          <a:lnRef idx="0"/>
          <a:fillRef idx="0"/>
          <a:effectRef idx="0"/>
          <a:fontRef idx="minor"/>
        </p:style>
        <p:txBody>
          <a:bodyPr lIns="90000" rIns="90000" tIns="45000" bIns="45000">
            <a:normAutofit/>
          </a:bodyPr>
          <a:p>
            <a:pPr>
              <a:lnSpc>
                <a:spcPct val="90000"/>
              </a:lnSpc>
              <a:spcBef>
                <a:spcPts val="1001"/>
              </a:spcBef>
            </a:pPr>
            <a:r>
              <a:rPr b="0" lang="en-US" sz="1600" spc="-1" strike="noStrike">
                <a:solidFill>
                  <a:srgbClr val="000000"/>
                </a:solidFill>
                <a:latin typeface="Calibri"/>
                <a:ea typeface="Microsoft YaHei"/>
              </a:rPr>
              <a:t> </a:t>
            </a:r>
            <a:endParaRPr b="0" lang="en-US" sz="1600" spc="-1" strike="noStrike">
              <a:latin typeface="Arial"/>
            </a:endParaRPr>
          </a:p>
          <a:p>
            <a:pPr>
              <a:lnSpc>
                <a:spcPct val="90000"/>
              </a:lnSpc>
              <a:spcBef>
                <a:spcPts val="1001"/>
              </a:spcBef>
            </a:pPr>
            <a:r>
              <a:rPr b="0" lang="en-US" sz="1600" spc="-1" strike="noStrike">
                <a:solidFill>
                  <a:srgbClr val="000000"/>
                </a:solidFill>
                <a:latin typeface="Calibri"/>
                <a:ea typeface="Microsoft YaHei"/>
              </a:rPr>
              <a:t>8. The user needs to enter the Mobile Number and Email ID, then click on the Verify button.</a:t>
            </a:r>
            <a:endParaRPr b="0" lang="en-US" sz="1600" spc="-1" strike="noStrike">
              <a:latin typeface="Arial"/>
            </a:endParaRPr>
          </a:p>
          <a:p>
            <a:pPr>
              <a:lnSpc>
                <a:spcPct val="90000"/>
              </a:lnSpc>
              <a:spcBef>
                <a:spcPts val="1001"/>
              </a:spcBef>
            </a:pPr>
            <a:r>
              <a:rPr b="0" lang="en-US" sz="1600" spc="-1" strike="noStrike">
                <a:solidFill>
                  <a:srgbClr val="000000"/>
                </a:solidFill>
                <a:latin typeface="Calibri"/>
                <a:ea typeface="DejaVu Sans"/>
              </a:rPr>
              <a:t>9.The user should enter the OTP and click on the Submit button.</a:t>
            </a:r>
            <a:endParaRPr b="0" lang="en-US" sz="1600" spc="-1" strike="noStrike">
              <a:latin typeface="Arial"/>
            </a:endParaRPr>
          </a:p>
          <a:p>
            <a:pPr>
              <a:lnSpc>
                <a:spcPct val="90000"/>
              </a:lnSpc>
              <a:spcBef>
                <a:spcPts val="1001"/>
              </a:spcBef>
            </a:pPr>
            <a:r>
              <a:rPr b="0" lang="en-US" sz="1600" spc="-1" strike="noStrike">
                <a:solidFill>
                  <a:srgbClr val="000000"/>
                </a:solidFill>
                <a:latin typeface="Calibri"/>
                <a:ea typeface="DejaVu Sans"/>
              </a:rPr>
              <a:t>10.The user needs to select the Marital Status from the dropdown.</a:t>
            </a: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a:p>
            <a:pPr>
              <a:lnSpc>
                <a:spcPct val="90000"/>
              </a:lnSpc>
              <a:spcBef>
                <a:spcPts val="1001"/>
              </a:spcBef>
            </a:pPr>
            <a:endParaRPr b="0" lang="en-US" sz="1600" spc="-1" strike="noStrike">
              <a:latin typeface="Arial"/>
            </a:endParaRPr>
          </a:p>
        </p:txBody>
      </p:sp>
      <p:pic>
        <p:nvPicPr>
          <p:cNvPr id="132" name="" descr=""/>
          <p:cNvPicPr/>
          <p:nvPr/>
        </p:nvPicPr>
        <p:blipFill>
          <a:blip r:embed="rId1"/>
          <a:stretch/>
        </p:blipFill>
        <p:spPr>
          <a:xfrm>
            <a:off x="548640" y="456480"/>
            <a:ext cx="5303160" cy="4164840"/>
          </a:xfrm>
          <a:prstGeom prst="rect">
            <a:avLst/>
          </a:prstGeom>
          <a:ln>
            <a:noFill/>
          </a:ln>
        </p:spPr>
      </p:pic>
      <p:pic>
        <p:nvPicPr>
          <p:cNvPr id="133" name="" descr=""/>
          <p:cNvPicPr/>
          <p:nvPr/>
        </p:nvPicPr>
        <p:blipFill>
          <a:blip r:embed="rId2"/>
          <a:stretch/>
        </p:blipFill>
        <p:spPr>
          <a:xfrm>
            <a:off x="6035040" y="457200"/>
            <a:ext cx="5668920" cy="2925720"/>
          </a:xfrm>
          <a:prstGeom prst="rect">
            <a:avLst/>
          </a:prstGeom>
          <a:ln>
            <a:noFill/>
          </a:ln>
        </p:spPr>
      </p:pic>
      <p:pic>
        <p:nvPicPr>
          <p:cNvPr id="134" name="" descr=""/>
          <p:cNvPicPr/>
          <p:nvPr/>
        </p:nvPicPr>
        <p:blipFill>
          <a:blip r:embed="rId3"/>
          <a:stretch/>
        </p:blipFill>
        <p:spPr>
          <a:xfrm>
            <a:off x="7223760" y="3017880"/>
            <a:ext cx="2609280" cy="1828080"/>
          </a:xfrm>
          <a:prstGeom prst="rect">
            <a:avLst/>
          </a:prstGeom>
          <a:ln>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CustomShape 1"/>
          <p:cNvSpPr/>
          <p:nvPr/>
        </p:nvSpPr>
        <p:spPr>
          <a:xfrm>
            <a:off x="273240" y="880560"/>
            <a:ext cx="11571120" cy="5682960"/>
          </a:xfrm>
          <a:prstGeom prst="rect">
            <a:avLst/>
          </a:prstGeom>
          <a:noFill/>
          <a:ln>
            <a:noFill/>
          </a:ln>
        </p:spPr>
        <p:style>
          <a:lnRef idx="0"/>
          <a:fillRef idx="0"/>
          <a:effectRef idx="0"/>
          <a:fontRef idx="minor"/>
        </p:style>
        <p:txBody>
          <a:bodyPr lIns="90000" rIns="90000" tIns="45000" bIns="45000">
            <a:normAutofit/>
          </a:bodyPr>
          <a:p>
            <a:pPr>
              <a:lnSpc>
                <a:spcPct val="90000"/>
              </a:lnSpc>
              <a:spcBef>
                <a:spcPts val="1001"/>
              </a:spcBef>
            </a:pPr>
            <a:endParaRPr b="0" lang="en-US" sz="1800" spc="-1" strike="noStrike">
              <a:latin typeface="Arial"/>
            </a:endParaRPr>
          </a:p>
          <a:p>
            <a:pPr>
              <a:lnSpc>
                <a:spcPct val="90000"/>
              </a:lnSpc>
              <a:spcBef>
                <a:spcPts val="1001"/>
              </a:spcBef>
            </a:pPr>
            <a:endParaRPr b="0" lang="en-US" sz="1800" spc="-1" strike="noStrike">
              <a:latin typeface="Arial"/>
            </a:endParaRPr>
          </a:p>
          <a:p>
            <a:pPr>
              <a:lnSpc>
                <a:spcPct val="90000"/>
              </a:lnSpc>
              <a:spcBef>
                <a:spcPts val="1001"/>
              </a:spcBef>
            </a:pPr>
            <a:endParaRPr b="0" lang="en-US" sz="1800" spc="-1" strike="noStrike">
              <a:latin typeface="Arial"/>
            </a:endParaRPr>
          </a:p>
          <a:p>
            <a:pPr>
              <a:lnSpc>
                <a:spcPct val="90000"/>
              </a:lnSpc>
              <a:spcBef>
                <a:spcPts val="1001"/>
              </a:spcBef>
            </a:pPr>
            <a:endParaRPr b="0" lang="en-US" sz="1800" spc="-1" strike="noStrike">
              <a:latin typeface="Arial"/>
            </a:endParaRPr>
          </a:p>
          <a:p>
            <a:pPr>
              <a:lnSpc>
                <a:spcPct val="90000"/>
              </a:lnSpc>
              <a:spcBef>
                <a:spcPts val="1001"/>
              </a:spcBef>
            </a:pPr>
            <a:endParaRPr b="0" lang="en-US" sz="1800" spc="-1" strike="noStrike">
              <a:latin typeface="Arial"/>
            </a:endParaRPr>
          </a:p>
          <a:p>
            <a:pPr>
              <a:lnSpc>
                <a:spcPct val="90000"/>
              </a:lnSpc>
              <a:spcBef>
                <a:spcPts val="1001"/>
              </a:spcBef>
            </a:pPr>
            <a:endParaRPr b="0" lang="en-US" sz="1800" spc="-1" strike="noStrike">
              <a:latin typeface="Arial"/>
            </a:endParaRPr>
          </a:p>
          <a:p>
            <a:pPr>
              <a:lnSpc>
                <a:spcPct val="90000"/>
              </a:lnSpc>
              <a:spcBef>
                <a:spcPts val="1001"/>
              </a:spcBef>
            </a:pPr>
            <a:endParaRPr b="0" lang="en-US" sz="1800" spc="-1" strike="noStrike">
              <a:latin typeface="Arial"/>
            </a:endParaRPr>
          </a:p>
          <a:p>
            <a:pPr>
              <a:lnSpc>
                <a:spcPct val="90000"/>
              </a:lnSpc>
              <a:spcBef>
                <a:spcPts val="1001"/>
              </a:spcBef>
            </a:pPr>
            <a:endParaRPr b="0" lang="en-US" sz="1800" spc="-1" strike="noStrike">
              <a:latin typeface="Arial"/>
            </a:endParaRPr>
          </a:p>
          <a:p>
            <a:pPr>
              <a:lnSpc>
                <a:spcPct val="90000"/>
              </a:lnSpc>
              <a:spcBef>
                <a:spcPts val="1001"/>
              </a:spcBef>
            </a:pPr>
            <a:endParaRPr b="0" lang="en-US" sz="1800" spc="-1" strike="noStrike">
              <a:latin typeface="Arial"/>
            </a:endParaRPr>
          </a:p>
          <a:p>
            <a:pPr>
              <a:lnSpc>
                <a:spcPct val="90000"/>
              </a:lnSpc>
              <a:spcBef>
                <a:spcPts val="1001"/>
              </a:spcBef>
            </a:pPr>
            <a:endParaRPr b="0" lang="en-US" sz="1800" spc="-1" strike="noStrike">
              <a:latin typeface="Arial"/>
            </a:endParaRPr>
          </a:p>
          <a:p>
            <a:pPr>
              <a:lnSpc>
                <a:spcPct val="90000"/>
              </a:lnSpc>
              <a:spcBef>
                <a:spcPts val="1001"/>
              </a:spcBef>
            </a:pPr>
            <a:endParaRPr b="0" lang="en-US" sz="1800" spc="-1" strike="noStrike">
              <a:latin typeface="Arial"/>
            </a:endParaRPr>
          </a:p>
          <a:p>
            <a:pPr>
              <a:lnSpc>
                <a:spcPct val="90000"/>
              </a:lnSpc>
              <a:spcBef>
                <a:spcPts val="1001"/>
              </a:spcBef>
            </a:pPr>
            <a:r>
              <a:rPr b="0" lang="en-US" sz="1600" spc="-1" strike="noStrike">
                <a:solidFill>
                  <a:srgbClr val="000000"/>
                </a:solidFill>
                <a:latin typeface="Calibri"/>
                <a:ea typeface="DejaVu Sans"/>
              </a:rPr>
              <a:t>11. The user can select any of the following options — Same as Aadhaar Address, Same as GSWS Address, or Enter Manually — then enter the required details and click on the Verify &amp; Continue button.</a:t>
            </a:r>
            <a:endParaRPr b="0" lang="en-US" sz="1600" spc="-1" strike="noStrike">
              <a:latin typeface="Arial"/>
            </a:endParaRPr>
          </a:p>
        </p:txBody>
      </p:sp>
      <p:sp>
        <p:nvSpPr>
          <p:cNvPr id="136" name="CustomShape 2"/>
          <p:cNvSpPr/>
          <p:nvPr/>
        </p:nvSpPr>
        <p:spPr>
          <a:xfrm>
            <a:off x="93240" y="175320"/>
            <a:ext cx="4826160" cy="1009800"/>
          </a:xfrm>
          <a:prstGeom prst="rect">
            <a:avLst/>
          </a:prstGeom>
          <a:noFill/>
          <a:ln>
            <a:noFill/>
          </a:ln>
        </p:spPr>
        <p:style>
          <a:lnRef idx="0"/>
          <a:fillRef idx="0"/>
          <a:effectRef idx="0"/>
          <a:fontRef idx="minor"/>
        </p:style>
      </p:sp>
      <p:pic>
        <p:nvPicPr>
          <p:cNvPr id="137" name="" descr=""/>
          <p:cNvPicPr/>
          <p:nvPr/>
        </p:nvPicPr>
        <p:blipFill>
          <a:blip r:embed="rId1"/>
          <a:stretch/>
        </p:blipFill>
        <p:spPr>
          <a:xfrm>
            <a:off x="1005840" y="347400"/>
            <a:ext cx="9509400" cy="4498560"/>
          </a:xfrm>
          <a:prstGeom prst="rect">
            <a:avLst/>
          </a:prstGeom>
          <a:ln>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CustomShape 1"/>
          <p:cNvSpPr/>
          <p:nvPr/>
        </p:nvSpPr>
        <p:spPr>
          <a:xfrm>
            <a:off x="851040" y="4754880"/>
            <a:ext cx="9115200" cy="1611720"/>
          </a:xfrm>
          <a:prstGeom prst="rect">
            <a:avLst/>
          </a:prstGeom>
          <a:noFill/>
          <a:ln>
            <a:noFill/>
          </a:ln>
        </p:spPr>
        <p:style>
          <a:lnRef idx="0"/>
          <a:fillRef idx="0"/>
          <a:effectRef idx="0"/>
          <a:fontRef idx="minor"/>
        </p:style>
        <p:txBody>
          <a:bodyPr lIns="90000" rIns="90000" tIns="45000" bIns="45000">
            <a:spAutoFit/>
          </a:bodyPr>
          <a:p>
            <a:pPr>
              <a:lnSpc>
                <a:spcPct val="100000"/>
              </a:lnSpc>
            </a:pPr>
            <a:endParaRPr b="0" lang="en-US" sz="1800" spc="-1" strike="noStrike">
              <a:latin typeface="Arial"/>
            </a:endParaRPr>
          </a:p>
          <a:p>
            <a:pPr>
              <a:lnSpc>
                <a:spcPct val="100000"/>
              </a:lnSpc>
            </a:pPr>
            <a:endParaRPr b="0" lang="en-US" sz="1800" spc="-1" strike="noStrike">
              <a:latin typeface="Arial"/>
            </a:endParaRPr>
          </a:p>
          <a:p>
            <a:pPr>
              <a:lnSpc>
                <a:spcPct val="100000"/>
              </a:lnSpc>
            </a:pPr>
            <a:r>
              <a:rPr b="0" lang="en-US" sz="1600" spc="-1" strike="noStrike">
                <a:solidFill>
                  <a:srgbClr val="000000"/>
                </a:solidFill>
                <a:latin typeface="Calibri"/>
                <a:ea typeface="DejaVu Sans"/>
              </a:rPr>
              <a:t>12.The user’s Educational Details will be pre-populated automatically.</a:t>
            </a:r>
            <a:br/>
            <a:r>
              <a:rPr b="0" lang="en-US" sz="1600" spc="-1" strike="noStrike">
                <a:solidFill>
                  <a:srgbClr val="000000"/>
                </a:solidFill>
                <a:latin typeface="Calibri"/>
                <a:ea typeface="DejaVu Sans"/>
              </a:rPr>
              <a:t>13The user can click on the Search button to add educational details.</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14.The user needs to click on the Add button to add the educational details.</a:t>
            </a:r>
            <a:endParaRPr b="0" lang="en-US" sz="1600" spc="-1" strike="noStrike">
              <a:latin typeface="Arial"/>
            </a:endParaRPr>
          </a:p>
          <a:p>
            <a:pPr>
              <a:lnSpc>
                <a:spcPct val="100000"/>
              </a:lnSpc>
            </a:pPr>
            <a:endParaRPr b="0" lang="en-US" sz="1600" spc="-1" strike="noStrike">
              <a:latin typeface="Arial"/>
            </a:endParaRPr>
          </a:p>
        </p:txBody>
      </p:sp>
      <p:pic>
        <p:nvPicPr>
          <p:cNvPr id="139" name="" descr=""/>
          <p:cNvPicPr/>
          <p:nvPr/>
        </p:nvPicPr>
        <p:blipFill>
          <a:blip r:embed="rId1"/>
          <a:stretch/>
        </p:blipFill>
        <p:spPr>
          <a:xfrm>
            <a:off x="393840" y="267120"/>
            <a:ext cx="10149480" cy="4372200"/>
          </a:xfrm>
          <a:prstGeom prst="rect">
            <a:avLst/>
          </a:prstGeom>
          <a:ln>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CustomShape 1"/>
          <p:cNvSpPr/>
          <p:nvPr/>
        </p:nvSpPr>
        <p:spPr>
          <a:xfrm>
            <a:off x="914400" y="4786920"/>
            <a:ext cx="8269560" cy="13064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Calibri"/>
                <a:ea typeface="DejaVu Sans"/>
              </a:rPr>
              <a:t>15.After clicking on the Search button, the user needs to select the Hall Ticket No or Institute radio button, enter all the required details, and click on the Search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16. After entering the details and clicking on the Search button, if the details do not match the Aadhaar number, the user will get a message — “No data found. Please add details manually” — as shown in the above screen.</a:t>
            </a:r>
            <a:endParaRPr b="0" lang="en-US" sz="1600" spc="-1" strike="noStrike">
              <a:latin typeface="Arial"/>
            </a:endParaRPr>
          </a:p>
        </p:txBody>
      </p:sp>
      <p:pic>
        <p:nvPicPr>
          <p:cNvPr id="141" name="" descr=""/>
          <p:cNvPicPr/>
          <p:nvPr/>
        </p:nvPicPr>
        <p:blipFill>
          <a:blip r:embed="rId1"/>
          <a:stretch/>
        </p:blipFill>
        <p:spPr>
          <a:xfrm>
            <a:off x="767520" y="548640"/>
            <a:ext cx="5267160" cy="3114360"/>
          </a:xfrm>
          <a:prstGeom prst="rect">
            <a:avLst/>
          </a:prstGeom>
          <a:ln>
            <a:noFill/>
          </a:ln>
        </p:spPr>
      </p:pic>
      <p:pic>
        <p:nvPicPr>
          <p:cNvPr id="142" name="" descr=""/>
          <p:cNvPicPr/>
          <p:nvPr/>
        </p:nvPicPr>
        <p:blipFill>
          <a:blip r:embed="rId2"/>
          <a:stretch/>
        </p:blipFill>
        <p:spPr>
          <a:xfrm>
            <a:off x="6347520" y="548640"/>
            <a:ext cx="4899240" cy="2925720"/>
          </a:xfrm>
          <a:prstGeom prst="rect">
            <a:avLst/>
          </a:prstGeom>
          <a:ln>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3" name="" descr=""/>
          <p:cNvPicPr/>
          <p:nvPr/>
        </p:nvPicPr>
        <p:blipFill>
          <a:blip r:embed="rId1"/>
          <a:stretch/>
        </p:blipFill>
        <p:spPr>
          <a:xfrm>
            <a:off x="483480" y="457200"/>
            <a:ext cx="5916960" cy="3382920"/>
          </a:xfrm>
          <a:prstGeom prst="rect">
            <a:avLst/>
          </a:prstGeom>
          <a:ln>
            <a:noFill/>
          </a:ln>
        </p:spPr>
      </p:pic>
      <p:sp>
        <p:nvSpPr>
          <p:cNvPr id="144" name="CustomShape 1"/>
          <p:cNvSpPr/>
          <p:nvPr/>
        </p:nvSpPr>
        <p:spPr>
          <a:xfrm>
            <a:off x="378720" y="4389120"/>
            <a:ext cx="11508120" cy="10630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Calibri"/>
                <a:ea typeface="DejaVu Sans"/>
              </a:rPr>
              <a:t>17.After clicking on the Add button, the user needs to enter all the required fields and click on the Add button again.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18. While entering the details, the user can select one of the following radio buttons — AP State, Other States, or Abroad — enter the details accordingly, and click on the Add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19.After adding the educational details, they will be displayed as shown in the above screen.</a:t>
            </a:r>
            <a:endParaRPr b="0" lang="en-US" sz="1600" spc="-1" strike="noStrike">
              <a:latin typeface="Arial"/>
            </a:endParaRPr>
          </a:p>
        </p:txBody>
      </p:sp>
      <p:pic>
        <p:nvPicPr>
          <p:cNvPr id="145" name="" descr=""/>
          <p:cNvPicPr/>
          <p:nvPr/>
        </p:nvPicPr>
        <p:blipFill>
          <a:blip r:embed="rId2"/>
          <a:stretch/>
        </p:blipFill>
        <p:spPr>
          <a:xfrm>
            <a:off x="6583680" y="311400"/>
            <a:ext cx="5162400" cy="3711600"/>
          </a:xfrm>
          <a:prstGeom prst="rect">
            <a:avLst/>
          </a:prstGeom>
          <a:ln>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CustomShape 1"/>
          <p:cNvSpPr/>
          <p:nvPr/>
        </p:nvSpPr>
        <p:spPr>
          <a:xfrm>
            <a:off x="914400" y="4552920"/>
            <a:ext cx="7484760" cy="15498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Calibri"/>
                <a:ea typeface="DejaVu Sans"/>
              </a:rPr>
              <a:t>20.The user needs to select Yes/No radio buttons for Additional Technical Skills and Do you have Traditional Skills.</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21.If the user selects Yes, they need to click on the Add button, enter all the details, and click on the Submit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22.If the user selects No, they can click on the Next button. </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23.The user needs to click on the Fetch from Digilocker button.</a:t>
            </a:r>
            <a:endParaRPr b="0" lang="en-US" sz="1600" spc="-1" strike="noStrike">
              <a:latin typeface="Arial"/>
            </a:endParaRPr>
          </a:p>
        </p:txBody>
      </p:sp>
      <p:pic>
        <p:nvPicPr>
          <p:cNvPr id="147" name="" descr=""/>
          <p:cNvPicPr/>
          <p:nvPr/>
        </p:nvPicPr>
        <p:blipFill>
          <a:blip r:embed="rId1"/>
          <a:stretch/>
        </p:blipFill>
        <p:spPr>
          <a:xfrm>
            <a:off x="7789680" y="457200"/>
            <a:ext cx="3822840" cy="3382920"/>
          </a:xfrm>
          <a:prstGeom prst="rect">
            <a:avLst/>
          </a:prstGeom>
          <a:ln>
            <a:noFill/>
          </a:ln>
        </p:spPr>
      </p:pic>
      <p:pic>
        <p:nvPicPr>
          <p:cNvPr id="148" name="" descr=""/>
          <p:cNvPicPr/>
          <p:nvPr/>
        </p:nvPicPr>
        <p:blipFill>
          <a:blip r:embed="rId2"/>
          <a:stretch/>
        </p:blipFill>
        <p:spPr>
          <a:xfrm>
            <a:off x="457200" y="453240"/>
            <a:ext cx="7239240" cy="3752640"/>
          </a:xfrm>
          <a:prstGeom prst="rect">
            <a:avLst/>
          </a:prstGeom>
          <a:ln>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9" name="" descr=""/>
          <p:cNvPicPr/>
          <p:nvPr/>
        </p:nvPicPr>
        <p:blipFill>
          <a:blip r:embed="rId1"/>
          <a:stretch/>
        </p:blipFill>
        <p:spPr>
          <a:xfrm>
            <a:off x="738720" y="365760"/>
            <a:ext cx="5753160" cy="4077720"/>
          </a:xfrm>
          <a:prstGeom prst="rect">
            <a:avLst/>
          </a:prstGeom>
          <a:ln>
            <a:noFill/>
          </a:ln>
        </p:spPr>
      </p:pic>
      <p:sp>
        <p:nvSpPr>
          <p:cNvPr id="150" name="CustomShape 1"/>
          <p:cNvSpPr/>
          <p:nvPr/>
        </p:nvSpPr>
        <p:spPr>
          <a:xfrm>
            <a:off x="910440" y="4827240"/>
            <a:ext cx="8598960" cy="10630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Calibri"/>
                <a:ea typeface="DejaVu Sans"/>
              </a:rPr>
              <a:t>24.After clicking on Digilocker, the user needs to enter the required details and click on the Sign In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25.After entering the mobile number and selecting the Pinless radio button, the user needs to enter the OTP and click on the Sign In button.</a:t>
            </a:r>
            <a:endParaRPr b="0" lang="en-US" sz="1600" spc="-1" strike="noStrike">
              <a:latin typeface="Arial"/>
            </a:endParaRPr>
          </a:p>
        </p:txBody>
      </p:sp>
      <p:pic>
        <p:nvPicPr>
          <p:cNvPr id="151" name="" descr=""/>
          <p:cNvPicPr/>
          <p:nvPr/>
        </p:nvPicPr>
        <p:blipFill>
          <a:blip r:embed="rId2"/>
          <a:stretch/>
        </p:blipFill>
        <p:spPr>
          <a:xfrm>
            <a:off x="6854040" y="365760"/>
            <a:ext cx="4667040" cy="4304880"/>
          </a:xfrm>
          <a:prstGeom prst="rect">
            <a:avLst/>
          </a:prstGeom>
          <a:ln>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2" name="" descr=""/>
          <p:cNvPicPr/>
          <p:nvPr/>
        </p:nvPicPr>
        <p:blipFill>
          <a:blip r:embed="rId1"/>
          <a:stretch/>
        </p:blipFill>
        <p:spPr>
          <a:xfrm>
            <a:off x="574920" y="208440"/>
            <a:ext cx="5734080" cy="4180320"/>
          </a:xfrm>
          <a:prstGeom prst="rect">
            <a:avLst/>
          </a:prstGeom>
          <a:ln>
            <a:noFill/>
          </a:ln>
        </p:spPr>
      </p:pic>
      <p:sp>
        <p:nvSpPr>
          <p:cNvPr id="153" name="CustomShape 1"/>
          <p:cNvSpPr/>
          <p:nvPr/>
        </p:nvSpPr>
        <p:spPr>
          <a:xfrm>
            <a:off x="640080" y="4754880"/>
            <a:ext cx="7367400" cy="15498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Calibri"/>
                <a:ea typeface="DejaVu Sans"/>
              </a:rPr>
              <a:t>26.The user needs to select the checkboxes as shown on the screen and click on the Allow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27.As shown in the above screen, the user needs to select the documents and click on the Upload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28.After uploading the documents, they will be displayed on the screen as shown above. Then, the user needs to click on the Next button.</a:t>
            </a:r>
            <a:endParaRPr b="0" lang="en-US" sz="1600" spc="-1" strike="noStrike">
              <a:latin typeface="Arial"/>
            </a:endParaRPr>
          </a:p>
        </p:txBody>
      </p:sp>
      <p:pic>
        <p:nvPicPr>
          <p:cNvPr id="154" name="" descr=""/>
          <p:cNvPicPr/>
          <p:nvPr/>
        </p:nvPicPr>
        <p:blipFill>
          <a:blip r:embed="rId2"/>
          <a:stretch/>
        </p:blipFill>
        <p:spPr>
          <a:xfrm>
            <a:off x="6492240" y="293400"/>
            <a:ext cx="5410080" cy="2723760"/>
          </a:xfrm>
          <a:prstGeom prst="rect">
            <a:avLst/>
          </a:prstGeom>
          <a:ln>
            <a:noFill/>
          </a:ln>
        </p:spPr>
      </p:pic>
      <p:pic>
        <p:nvPicPr>
          <p:cNvPr id="155" name="" descr=""/>
          <p:cNvPicPr/>
          <p:nvPr/>
        </p:nvPicPr>
        <p:blipFill>
          <a:blip r:embed="rId3"/>
          <a:stretch/>
        </p:blipFill>
        <p:spPr>
          <a:xfrm>
            <a:off x="6400800" y="2926080"/>
            <a:ext cx="5303160" cy="1645560"/>
          </a:xfrm>
          <a:prstGeom prst="rect">
            <a:avLst/>
          </a:prstGeom>
          <a:ln>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6" name="" descr=""/>
          <p:cNvPicPr/>
          <p:nvPr/>
        </p:nvPicPr>
        <p:blipFill>
          <a:blip r:embed="rId1"/>
          <a:stretch/>
        </p:blipFill>
        <p:spPr>
          <a:xfrm>
            <a:off x="914400" y="313560"/>
            <a:ext cx="6674760" cy="4166640"/>
          </a:xfrm>
          <a:prstGeom prst="rect">
            <a:avLst/>
          </a:prstGeom>
          <a:ln>
            <a:noFill/>
          </a:ln>
        </p:spPr>
      </p:pic>
      <p:sp>
        <p:nvSpPr>
          <p:cNvPr id="157" name="CustomShape 1"/>
          <p:cNvSpPr/>
          <p:nvPr/>
        </p:nvSpPr>
        <p:spPr>
          <a:xfrm>
            <a:off x="999000" y="4918680"/>
            <a:ext cx="6773040" cy="15498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Calibri"/>
                <a:ea typeface="DejaVu Sans"/>
              </a:rPr>
              <a:t>29.The user can select Yes or No radio button for Soft Skills.</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30.If the user selects Yes, they need to click on the Add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31.Enter the required details and click on the Submit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32.The user then needs to click on the Add button under Language Skills, enter the details, and click on the Submit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33.The user now needs to click on the Next button.</a:t>
            </a:r>
            <a:endParaRPr b="0" lang="en-US" sz="1600" spc="-1" strike="noStrike">
              <a:latin typeface="Arial"/>
            </a:endParaRPr>
          </a:p>
        </p:txBody>
      </p:sp>
      <p:pic>
        <p:nvPicPr>
          <p:cNvPr id="158" name="" descr=""/>
          <p:cNvPicPr/>
          <p:nvPr/>
        </p:nvPicPr>
        <p:blipFill>
          <a:blip r:embed="rId2"/>
          <a:stretch/>
        </p:blipFill>
        <p:spPr>
          <a:xfrm>
            <a:off x="7863840" y="686160"/>
            <a:ext cx="3390480" cy="1599480"/>
          </a:xfrm>
          <a:prstGeom prst="rect">
            <a:avLst/>
          </a:prstGeom>
          <a:ln>
            <a:noFill/>
          </a:ln>
        </p:spPr>
      </p:pic>
      <p:pic>
        <p:nvPicPr>
          <p:cNvPr id="159" name="" descr=""/>
          <p:cNvPicPr/>
          <p:nvPr/>
        </p:nvPicPr>
        <p:blipFill>
          <a:blip r:embed="rId3"/>
          <a:stretch/>
        </p:blipFill>
        <p:spPr>
          <a:xfrm>
            <a:off x="7955280" y="2560320"/>
            <a:ext cx="3304800" cy="2018520"/>
          </a:xfrm>
          <a:prstGeom prst="rect">
            <a:avLst/>
          </a:prstGeom>
          <a:ln>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CustomShape 1"/>
          <p:cNvSpPr/>
          <p:nvPr/>
        </p:nvSpPr>
        <p:spPr>
          <a:xfrm>
            <a:off x="872280" y="4754880"/>
            <a:ext cx="8179920" cy="10630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Calibri"/>
                <a:ea typeface="DejaVu Sans"/>
              </a:rPr>
              <a:t>34.As shown in the above screen, if the user selects Presently Working or Previously Worked but Unemployed from the dropdown, they can click on the Add Experience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35.After clicking on the Add Experience button, the user needs to enter all the details and click on the Submit button.</a:t>
            </a:r>
            <a:endParaRPr b="0" lang="en-US" sz="1600" spc="-1" strike="noStrike">
              <a:latin typeface="Arial"/>
            </a:endParaRPr>
          </a:p>
        </p:txBody>
      </p:sp>
      <p:pic>
        <p:nvPicPr>
          <p:cNvPr id="161" name="" descr=""/>
          <p:cNvPicPr/>
          <p:nvPr/>
        </p:nvPicPr>
        <p:blipFill>
          <a:blip r:embed="rId1"/>
          <a:stretch/>
        </p:blipFill>
        <p:spPr>
          <a:xfrm>
            <a:off x="822960" y="164520"/>
            <a:ext cx="6949080" cy="4407120"/>
          </a:xfrm>
          <a:prstGeom prst="rect">
            <a:avLst/>
          </a:prstGeom>
          <a:ln>
            <a:noFill/>
          </a:ln>
        </p:spPr>
      </p:pic>
      <p:pic>
        <p:nvPicPr>
          <p:cNvPr id="162" name="" descr=""/>
          <p:cNvPicPr/>
          <p:nvPr/>
        </p:nvPicPr>
        <p:blipFill>
          <a:blip r:embed="rId2"/>
          <a:stretch/>
        </p:blipFill>
        <p:spPr>
          <a:xfrm>
            <a:off x="8119080" y="274320"/>
            <a:ext cx="3219120" cy="4198320"/>
          </a:xfrm>
          <a:prstGeom prst="rect">
            <a:avLst/>
          </a:prstGeom>
          <a:ln>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3" name="" descr=""/>
          <p:cNvPicPr/>
          <p:nvPr/>
        </p:nvPicPr>
        <p:blipFill>
          <a:blip r:embed="rId1"/>
          <a:stretch/>
        </p:blipFill>
        <p:spPr>
          <a:xfrm>
            <a:off x="1097280" y="353880"/>
            <a:ext cx="9783720" cy="4034880"/>
          </a:xfrm>
          <a:prstGeom prst="rect">
            <a:avLst/>
          </a:prstGeom>
          <a:ln>
            <a:noFill/>
          </a:ln>
        </p:spPr>
      </p:pic>
      <p:sp>
        <p:nvSpPr>
          <p:cNvPr id="164" name="CustomShape 1"/>
          <p:cNvSpPr/>
          <p:nvPr/>
        </p:nvSpPr>
        <p:spPr>
          <a:xfrm>
            <a:off x="1120680" y="4846320"/>
            <a:ext cx="8663040" cy="8197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Calibri"/>
                <a:ea typeface="DejaVu Sans"/>
              </a:rPr>
              <a:t>36.After adding the experience, it will be displayed as shown in the above screen.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37.The user now needs to select Yes/No radio buttons under Aspirations.</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38.If the user selects Yes, they need to enter all the details and click on the Next button.</a:t>
            </a: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5" name="" descr=""/>
          <p:cNvPicPr/>
          <p:nvPr/>
        </p:nvPicPr>
        <p:blipFill>
          <a:blip r:embed="rId1"/>
          <a:stretch/>
        </p:blipFill>
        <p:spPr>
          <a:xfrm>
            <a:off x="640080" y="274320"/>
            <a:ext cx="6400440" cy="4297320"/>
          </a:xfrm>
          <a:prstGeom prst="rect">
            <a:avLst/>
          </a:prstGeom>
          <a:ln>
            <a:noFill/>
          </a:ln>
        </p:spPr>
      </p:pic>
      <p:sp>
        <p:nvSpPr>
          <p:cNvPr id="166" name="CustomShape 1"/>
          <p:cNvSpPr/>
          <p:nvPr/>
        </p:nvSpPr>
        <p:spPr>
          <a:xfrm>
            <a:off x="651240" y="4918680"/>
            <a:ext cx="9589680" cy="8197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Calibri"/>
                <a:ea typeface="DejaVu Sans"/>
              </a:rPr>
              <a:t>39.The user needs to click on the Click Here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40.The user needs to select any one of the available contents and click on the Save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41.After clicking on the Save button, the user needs to click on the Next button.</a:t>
            </a:r>
            <a:endParaRPr b="0" lang="en-US" sz="1600" spc="-1" strike="noStrike">
              <a:latin typeface="Arial"/>
            </a:endParaRPr>
          </a:p>
        </p:txBody>
      </p:sp>
      <p:pic>
        <p:nvPicPr>
          <p:cNvPr id="167" name="" descr=""/>
          <p:cNvPicPr/>
          <p:nvPr/>
        </p:nvPicPr>
        <p:blipFill>
          <a:blip r:embed="rId2"/>
          <a:stretch/>
        </p:blipFill>
        <p:spPr>
          <a:xfrm>
            <a:off x="7188840" y="314280"/>
            <a:ext cx="4423680" cy="3800160"/>
          </a:xfrm>
          <a:prstGeom prst="rect">
            <a:avLst/>
          </a:prstGeom>
          <a:ln>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8" name="" descr=""/>
          <p:cNvPicPr/>
          <p:nvPr/>
        </p:nvPicPr>
        <p:blipFill>
          <a:blip r:embed="rId1"/>
          <a:stretch/>
        </p:blipFill>
        <p:spPr>
          <a:xfrm>
            <a:off x="731520" y="500040"/>
            <a:ext cx="6606720" cy="3614400"/>
          </a:xfrm>
          <a:prstGeom prst="rect">
            <a:avLst/>
          </a:prstGeom>
          <a:ln>
            <a:noFill/>
          </a:ln>
        </p:spPr>
      </p:pic>
      <p:sp>
        <p:nvSpPr>
          <p:cNvPr id="169" name="CustomShape 1"/>
          <p:cNvSpPr/>
          <p:nvPr/>
        </p:nvSpPr>
        <p:spPr>
          <a:xfrm>
            <a:off x="1005840" y="4480560"/>
            <a:ext cx="8046360" cy="8197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Calibri"/>
                <a:ea typeface="DejaVu Sans"/>
              </a:rPr>
              <a:t>42.The user now needs to select a Resume Template and click on the Submit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43.The user can download the resume by clicking on the Download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44.The user will receive login details via mobile and email for logging in.</a:t>
            </a:r>
            <a:endParaRPr b="0" lang="en-US" sz="1600" spc="-1" strike="noStrike">
              <a:latin typeface="Arial"/>
            </a:endParaRPr>
          </a:p>
        </p:txBody>
      </p:sp>
      <p:pic>
        <p:nvPicPr>
          <p:cNvPr id="170" name="" descr=""/>
          <p:cNvPicPr/>
          <p:nvPr/>
        </p:nvPicPr>
        <p:blipFill>
          <a:blip r:embed="rId2"/>
          <a:stretch/>
        </p:blipFill>
        <p:spPr>
          <a:xfrm>
            <a:off x="7492320" y="583200"/>
            <a:ext cx="3937320" cy="3074040"/>
          </a:xfrm>
          <a:prstGeom prst="rect">
            <a:avLst/>
          </a:prstGeom>
          <a:ln>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1" name="" descr=""/>
          <p:cNvPicPr/>
          <p:nvPr/>
        </p:nvPicPr>
        <p:blipFill>
          <a:blip r:embed="rId1"/>
          <a:stretch/>
        </p:blipFill>
        <p:spPr>
          <a:xfrm>
            <a:off x="365760" y="822960"/>
            <a:ext cx="7040520" cy="3931560"/>
          </a:xfrm>
          <a:prstGeom prst="rect">
            <a:avLst/>
          </a:prstGeom>
          <a:ln>
            <a:noFill/>
          </a:ln>
        </p:spPr>
      </p:pic>
      <p:pic>
        <p:nvPicPr>
          <p:cNvPr id="172" name="" descr=""/>
          <p:cNvPicPr/>
          <p:nvPr/>
        </p:nvPicPr>
        <p:blipFill>
          <a:blip r:embed="rId2"/>
          <a:stretch/>
        </p:blipFill>
        <p:spPr>
          <a:xfrm>
            <a:off x="7772400" y="914400"/>
            <a:ext cx="3666600" cy="3748680"/>
          </a:xfrm>
          <a:prstGeom prst="rect">
            <a:avLst/>
          </a:prstGeom>
          <a:ln>
            <a:noFill/>
          </a:ln>
        </p:spPr>
      </p:pic>
      <p:sp>
        <p:nvSpPr>
          <p:cNvPr id="173" name="CustomShape 1"/>
          <p:cNvSpPr/>
          <p:nvPr/>
        </p:nvSpPr>
        <p:spPr>
          <a:xfrm>
            <a:off x="171360" y="274320"/>
            <a:ext cx="2388600" cy="39456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solidFill>
                  <a:srgbClr val="000000"/>
                </a:solidFill>
                <a:latin typeface="Arial"/>
                <a:ea typeface="DejaVu Sans"/>
              </a:rPr>
              <a:t>Citizen Login</a:t>
            </a:r>
            <a:endParaRPr b="0" lang="en-US" sz="2000" spc="-1" strike="noStrike">
              <a:latin typeface="Arial"/>
            </a:endParaRPr>
          </a:p>
        </p:txBody>
      </p:sp>
      <p:sp>
        <p:nvSpPr>
          <p:cNvPr id="174" name="CustomShape 2"/>
          <p:cNvSpPr/>
          <p:nvPr/>
        </p:nvSpPr>
        <p:spPr>
          <a:xfrm>
            <a:off x="365760" y="5173200"/>
            <a:ext cx="11543400" cy="8197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Calibri"/>
                <a:ea typeface="DejaVu Sans"/>
              </a:rPr>
              <a:t> </a:t>
            </a:r>
            <a:r>
              <a:rPr b="0" lang="en-US" sz="1600" spc="-1" strike="noStrike">
                <a:solidFill>
                  <a:srgbClr val="000000"/>
                </a:solidFill>
                <a:latin typeface="Calibri"/>
                <a:ea typeface="DejaVu Sans"/>
              </a:rPr>
              <a:t>45.Now, the user can see both the Login and Home buttons on the Home page. The user needs to click on the Login button and select Citizen.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46.Enter the Username and Password, then click on the Login button.</a:t>
            </a: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5" name="" descr=""/>
          <p:cNvPicPr/>
          <p:nvPr/>
        </p:nvPicPr>
        <p:blipFill>
          <a:blip r:embed="rId1"/>
          <a:stretch/>
        </p:blipFill>
        <p:spPr>
          <a:xfrm>
            <a:off x="548640" y="457200"/>
            <a:ext cx="7589160" cy="4388760"/>
          </a:xfrm>
          <a:prstGeom prst="rect">
            <a:avLst/>
          </a:prstGeom>
          <a:ln>
            <a:noFill/>
          </a:ln>
        </p:spPr>
      </p:pic>
      <p:sp>
        <p:nvSpPr>
          <p:cNvPr id="176" name="CustomShape 1"/>
          <p:cNvSpPr/>
          <p:nvPr/>
        </p:nvSpPr>
        <p:spPr>
          <a:xfrm>
            <a:off x="914400" y="5193000"/>
            <a:ext cx="9143640" cy="10630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Calibri"/>
                <a:ea typeface="DejaVu Sans"/>
              </a:rPr>
              <a:t>47.The user can click on Edit Profile to update their details.</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48.The user can click on the Download Resume button to download the resume.</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49.The user can click on the View QR Code button and either scan it or click on the Download button to download the resume.</a:t>
            </a:r>
            <a:endParaRPr b="0" lang="en-US" sz="1600" spc="-1" strike="noStrike">
              <a:latin typeface="Arial"/>
            </a:endParaRPr>
          </a:p>
        </p:txBody>
      </p:sp>
      <p:pic>
        <p:nvPicPr>
          <p:cNvPr id="177" name="" descr=""/>
          <p:cNvPicPr/>
          <p:nvPr/>
        </p:nvPicPr>
        <p:blipFill>
          <a:blip r:embed="rId2"/>
          <a:stretch/>
        </p:blipFill>
        <p:spPr>
          <a:xfrm>
            <a:off x="8412480" y="670680"/>
            <a:ext cx="3200040" cy="2895120"/>
          </a:xfrm>
          <a:prstGeom prst="rect">
            <a:avLst/>
          </a:prstGeom>
          <a:ln>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8" name="" descr=""/>
          <p:cNvPicPr/>
          <p:nvPr/>
        </p:nvPicPr>
        <p:blipFill>
          <a:blip r:embed="rId1"/>
          <a:stretch/>
        </p:blipFill>
        <p:spPr>
          <a:xfrm>
            <a:off x="571680" y="274320"/>
            <a:ext cx="11040840" cy="4387320"/>
          </a:xfrm>
          <a:prstGeom prst="rect">
            <a:avLst/>
          </a:prstGeom>
          <a:ln>
            <a:noFill/>
          </a:ln>
        </p:spPr>
      </p:pic>
      <p:sp>
        <p:nvSpPr>
          <p:cNvPr id="179" name="CustomShape 1"/>
          <p:cNvSpPr/>
          <p:nvPr/>
        </p:nvSpPr>
        <p:spPr>
          <a:xfrm>
            <a:off x="731520" y="5010120"/>
            <a:ext cx="7863480" cy="10630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Calibri"/>
                <a:ea typeface="DejaVu Sans"/>
              </a:rPr>
              <a:t>50.To apply for Recommended Jobs, the user can click on the Interested button from the list of Recommended Jobs.</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51. To apply for Recommended Skill Courses, the user can click on the Interested button from the list of Recommended Skill Courses.</a:t>
            </a: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0" name="" descr=""/>
          <p:cNvPicPr/>
          <p:nvPr/>
        </p:nvPicPr>
        <p:blipFill>
          <a:blip r:embed="rId1"/>
          <a:stretch/>
        </p:blipFill>
        <p:spPr>
          <a:xfrm>
            <a:off x="365760" y="397080"/>
            <a:ext cx="7772040" cy="3900240"/>
          </a:xfrm>
          <a:prstGeom prst="rect">
            <a:avLst/>
          </a:prstGeom>
          <a:ln>
            <a:noFill/>
          </a:ln>
        </p:spPr>
      </p:pic>
      <p:sp>
        <p:nvSpPr>
          <p:cNvPr id="181" name="CustomShape 1"/>
          <p:cNvSpPr/>
          <p:nvPr/>
        </p:nvSpPr>
        <p:spPr>
          <a:xfrm>
            <a:off x="988200" y="4572000"/>
            <a:ext cx="9344160" cy="130716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Calibri"/>
                <a:ea typeface="DejaVu Sans"/>
              </a:rPr>
              <a:t>52.After clicking on the Interested button from the Recommended Jobs, the user can view the Job Info page.</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53Here, the user can check eligibility under the Basic Suitability Matrix. If the Qualification, Specialization, Experience, Age Limit, Language Skills, and Soft Skills match, the user can click on the Apply Now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54.After clicking on the Apply Now button, the user needs to click on the Confirm button.</a:t>
            </a:r>
            <a:endParaRPr b="0" lang="en-US" sz="1600" spc="-1" strike="noStrike">
              <a:latin typeface="Arial"/>
            </a:endParaRPr>
          </a:p>
          <a:p>
            <a:pPr>
              <a:lnSpc>
                <a:spcPct val="100000"/>
              </a:lnSpc>
            </a:pPr>
            <a:r>
              <a:rPr b="0" lang="en-US" sz="1600" spc="-1" strike="noStrike">
                <a:solidFill>
                  <a:srgbClr val="000000"/>
                </a:solidFill>
                <a:latin typeface="Calibri"/>
                <a:ea typeface="DejaVu Sans"/>
              </a:rPr>
              <a:t>55. After applying for the job, as shown in the previous screen, the user can see the status as Applied.</a:t>
            </a:r>
            <a:endParaRPr b="0" lang="en-US" sz="1600" spc="-1" strike="noStrike">
              <a:latin typeface="Arial"/>
            </a:endParaRPr>
          </a:p>
        </p:txBody>
      </p:sp>
      <p:pic>
        <p:nvPicPr>
          <p:cNvPr id="182" name="" descr=""/>
          <p:cNvPicPr/>
          <p:nvPr/>
        </p:nvPicPr>
        <p:blipFill>
          <a:blip r:embed="rId2"/>
          <a:stretch/>
        </p:blipFill>
        <p:spPr>
          <a:xfrm>
            <a:off x="8321040" y="457200"/>
            <a:ext cx="3323880" cy="1677600"/>
          </a:xfrm>
          <a:prstGeom prst="rect">
            <a:avLst/>
          </a:prstGeom>
          <a:ln>
            <a:noFill/>
          </a:ln>
        </p:spPr>
      </p:pic>
      <p:pic>
        <p:nvPicPr>
          <p:cNvPr id="183" name="" descr=""/>
          <p:cNvPicPr/>
          <p:nvPr/>
        </p:nvPicPr>
        <p:blipFill>
          <a:blip r:embed="rId3"/>
          <a:stretch/>
        </p:blipFill>
        <p:spPr>
          <a:xfrm>
            <a:off x="8414640" y="2278800"/>
            <a:ext cx="2466360" cy="2018520"/>
          </a:xfrm>
          <a:prstGeom prst="rect">
            <a:avLst/>
          </a:prstGeom>
          <a:ln>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CustomShape 1" hidden="1"/>
          <p:cNvSpPr/>
          <p:nvPr/>
        </p:nvSpPr>
        <p:spPr>
          <a:xfrm>
            <a:off x="286200" y="2250000"/>
            <a:ext cx="2937960" cy="63828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1800" spc="-1" strike="noStrike">
                <a:solidFill>
                  <a:srgbClr val="1b1464"/>
                </a:solidFill>
                <a:latin typeface="Poppins SemiBold"/>
                <a:ea typeface="DejaVu Sans"/>
              </a:rPr>
              <a:t>User Registration into</a:t>
            </a:r>
            <a:endParaRPr b="0" lang="en-US" sz="1800" spc="-1" strike="noStrike">
              <a:latin typeface="Arial"/>
            </a:endParaRPr>
          </a:p>
          <a:p>
            <a:pPr>
              <a:lnSpc>
                <a:spcPct val="100000"/>
              </a:lnSpc>
            </a:pPr>
            <a:r>
              <a:rPr b="0" lang="en-US" sz="1800" spc="-1" strike="noStrike">
                <a:solidFill>
                  <a:srgbClr val="1b1464"/>
                </a:solidFill>
                <a:latin typeface="Poppins SemiBold"/>
                <a:ea typeface="DejaVu Sans"/>
              </a:rPr>
              <a:t>AP FRS</a:t>
            </a:r>
            <a:endParaRPr b="0" lang="en-US" sz="1800" spc="-1" strike="noStrike">
              <a:latin typeface="Arial"/>
            </a:endParaRPr>
          </a:p>
        </p:txBody>
      </p:sp>
      <p:sp>
        <p:nvSpPr>
          <p:cNvPr id="185" name="CustomShape 2" hidden="1"/>
          <p:cNvSpPr/>
          <p:nvPr/>
        </p:nvSpPr>
        <p:spPr>
          <a:xfrm>
            <a:off x="383400" y="2256480"/>
            <a:ext cx="43920" cy="644400"/>
          </a:xfrm>
          <a:prstGeom prst="rect">
            <a:avLst/>
          </a:prstGeom>
          <a:solidFill>
            <a:srgbClr val="1b1464"/>
          </a:solidFill>
          <a:ln w="12600">
            <a:solidFill>
              <a:srgbClr val="325490"/>
            </a:solidFill>
            <a:miter/>
          </a:ln>
        </p:spPr>
        <p:style>
          <a:lnRef idx="0"/>
          <a:fillRef idx="0"/>
          <a:effectRef idx="0"/>
          <a:fontRef idx="minor"/>
        </p:style>
      </p:sp>
      <p:sp>
        <p:nvSpPr>
          <p:cNvPr id="186" name="CustomShape 3" hidden="1"/>
          <p:cNvSpPr/>
          <p:nvPr/>
        </p:nvSpPr>
        <p:spPr>
          <a:xfrm>
            <a:off x="383400" y="3130560"/>
            <a:ext cx="3563280" cy="8197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Poppins SemiBold"/>
                <a:ea typeface="DejaVu Sans"/>
              </a:rPr>
              <a:t>This section describes steps to be performed for one time </a:t>
            </a:r>
            <a:endParaRPr b="0" lang="en-US" sz="1600" spc="-1" strike="noStrike">
              <a:latin typeface="Arial"/>
            </a:endParaRPr>
          </a:p>
          <a:p>
            <a:pPr>
              <a:lnSpc>
                <a:spcPct val="100000"/>
              </a:lnSpc>
            </a:pPr>
            <a:r>
              <a:rPr b="0" lang="en-US" sz="1600" spc="-1" strike="noStrike">
                <a:solidFill>
                  <a:srgbClr val="000000"/>
                </a:solidFill>
                <a:latin typeface="Poppins SemiBold"/>
                <a:ea typeface="DejaVu Sans"/>
              </a:rPr>
              <a:t>registration into the FRS app.</a:t>
            </a:r>
            <a:endParaRPr b="0" lang="en-US" sz="1600" spc="-1" strike="noStrike">
              <a:latin typeface="Arial"/>
            </a:endParaRPr>
          </a:p>
        </p:txBody>
      </p:sp>
      <p:sp>
        <p:nvSpPr>
          <p:cNvPr id="187" name="CustomShape 4" hidden="1"/>
          <p:cNvSpPr/>
          <p:nvPr/>
        </p:nvSpPr>
        <p:spPr>
          <a:xfrm>
            <a:off x="1631520" y="4422960"/>
            <a:ext cx="3277080" cy="1389600"/>
          </a:xfrm>
          <a:prstGeom prst="snipRoundRect">
            <a:avLst>
              <a:gd name="adj1" fmla="val 16667"/>
              <a:gd name="adj2" fmla="val 16667"/>
            </a:avLst>
          </a:prstGeom>
          <a:solidFill>
            <a:srgbClr val="ffffff"/>
          </a:solidFill>
          <a:ln w="25560">
            <a:solidFill>
              <a:srgbClr val="000000"/>
            </a:solidFill>
            <a:miter/>
          </a:ln>
        </p:spPr>
        <p:style>
          <a:lnRef idx="0"/>
          <a:fillRef idx="0"/>
          <a:effectRef idx="0"/>
          <a:fontRef idx="minor"/>
        </p:style>
        <p:txBody>
          <a:bodyPr lIns="90000" rIns="90000" tIns="45000" bIns="45000" anchor="ctr">
            <a:noAutofit/>
          </a:bodyPr>
          <a:p>
            <a:pPr>
              <a:lnSpc>
                <a:spcPct val="100000"/>
              </a:lnSpc>
            </a:pPr>
            <a:r>
              <a:rPr b="0" lang="en-US" sz="1400" spc="-1" strike="noStrike">
                <a:solidFill>
                  <a:srgbClr val="000000"/>
                </a:solidFill>
                <a:latin typeface="Poppins"/>
                <a:ea typeface="DejaVu Sans"/>
              </a:rPr>
              <a:t>This section describes steps to be performed for one time </a:t>
            </a:r>
            <a:endParaRPr b="0" lang="en-US" sz="1400" spc="-1" strike="noStrike">
              <a:latin typeface="Arial"/>
            </a:endParaRPr>
          </a:p>
          <a:p>
            <a:pPr>
              <a:lnSpc>
                <a:spcPct val="100000"/>
              </a:lnSpc>
            </a:pPr>
            <a:r>
              <a:rPr b="0" lang="en-US" sz="1400" spc="-1" strike="noStrike">
                <a:solidFill>
                  <a:srgbClr val="000000"/>
                </a:solidFill>
                <a:latin typeface="Poppins"/>
                <a:ea typeface="DejaVu Sans"/>
              </a:rPr>
              <a:t>registration into the FRS app.</a:t>
            </a:r>
            <a:endParaRPr b="0" lang="en-US" sz="1400" spc="-1" strike="noStrike">
              <a:latin typeface="Arial"/>
            </a:endParaRPr>
          </a:p>
          <a:p>
            <a:pPr algn="ctr">
              <a:lnSpc>
                <a:spcPct val="100000"/>
              </a:lnSpc>
            </a:pPr>
            <a:endParaRPr b="0" lang="en-US" sz="1400" spc="-1" strike="noStrike">
              <a:latin typeface="Arial"/>
            </a:endParaRPr>
          </a:p>
        </p:txBody>
      </p:sp>
      <p:sp>
        <p:nvSpPr>
          <p:cNvPr id="188" name="CustomShape 5" hidden="1"/>
          <p:cNvSpPr/>
          <p:nvPr/>
        </p:nvSpPr>
        <p:spPr>
          <a:xfrm>
            <a:off x="7716600" y="4976280"/>
            <a:ext cx="3277080" cy="1389600"/>
          </a:xfrm>
          <a:prstGeom prst="snipRoundRect">
            <a:avLst>
              <a:gd name="adj1" fmla="val 16667"/>
              <a:gd name="adj2" fmla="val 16667"/>
            </a:avLst>
          </a:prstGeom>
          <a:solidFill>
            <a:srgbClr val="ffffff"/>
          </a:solidFill>
          <a:ln w="25560">
            <a:solidFill>
              <a:srgbClr val="000000"/>
            </a:solidFill>
            <a:miter/>
          </a:ln>
        </p:spPr>
        <p:style>
          <a:lnRef idx="0"/>
          <a:fillRef idx="0"/>
          <a:effectRef idx="0"/>
          <a:fontRef idx="minor"/>
        </p:style>
        <p:txBody>
          <a:bodyPr lIns="90000" rIns="90000" tIns="45000" bIns="45000" anchor="ctr">
            <a:noAutofit/>
          </a:bodyPr>
          <a:p>
            <a:pPr>
              <a:lnSpc>
                <a:spcPct val="100000"/>
              </a:lnSpc>
            </a:pPr>
            <a:r>
              <a:rPr b="0" lang="en-US" sz="1400" spc="-1" strike="noStrike">
                <a:solidFill>
                  <a:srgbClr val="000000"/>
                </a:solidFill>
                <a:latin typeface="Poppins"/>
                <a:ea typeface="DejaVu Sans"/>
              </a:rPr>
              <a:t>This section describes steps to be performed for one time </a:t>
            </a:r>
            <a:endParaRPr b="0" lang="en-US" sz="1400" spc="-1" strike="noStrike">
              <a:latin typeface="Arial"/>
            </a:endParaRPr>
          </a:p>
          <a:p>
            <a:pPr>
              <a:lnSpc>
                <a:spcPct val="100000"/>
              </a:lnSpc>
            </a:pPr>
            <a:r>
              <a:rPr b="0" lang="en-US" sz="1400" spc="-1" strike="noStrike">
                <a:solidFill>
                  <a:srgbClr val="000000"/>
                </a:solidFill>
                <a:latin typeface="Poppins"/>
                <a:ea typeface="DejaVu Sans"/>
              </a:rPr>
              <a:t>registration into the FRS app.</a:t>
            </a:r>
            <a:endParaRPr b="0" lang="en-US" sz="1400" spc="-1" strike="noStrike">
              <a:latin typeface="Arial"/>
            </a:endParaRPr>
          </a:p>
          <a:p>
            <a:pPr algn="ctr">
              <a:lnSpc>
                <a:spcPct val="100000"/>
              </a:lnSpc>
            </a:pPr>
            <a:endParaRPr b="0" lang="en-US" sz="1400" spc="-1" strike="noStrike">
              <a:latin typeface="Arial"/>
            </a:endParaRPr>
          </a:p>
        </p:txBody>
      </p:sp>
      <p:pic>
        <p:nvPicPr>
          <p:cNvPr id="189" name="Graphic 10" descr=""/>
          <p:cNvPicPr/>
          <p:nvPr/>
        </p:nvPicPr>
        <p:blipFill>
          <a:blip r:embed="rId1"/>
          <a:stretch/>
        </p:blipFill>
        <p:spPr>
          <a:xfrm>
            <a:off x="3439800" y="1285560"/>
            <a:ext cx="5310720" cy="4443840"/>
          </a:xfrm>
          <a:prstGeom prst="rect">
            <a:avLst/>
          </a:prstGeom>
          <a:ln>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1136</TotalTime>
  <Application>Neat_Office/6.2.8.2$Windows_x86 LibreOffice_project/</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2025-02-06T13:05:51Z</dcterms:created>
  <dc:creator>Chaitanya Patibandla</dc:creator>
  <dc:description/>
  <dc:language>en-US</dc:language>
  <cp:lastModifiedBy/>
  <dcterms:modified xsi:type="dcterms:W3CDTF">2025-11-10T15:16:49Z</dcterms:modified>
  <cp:revision>17</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0</vt:bool>
  </property>
  <property fmtid="{D5CDD505-2E9C-101B-9397-08002B2CF9AE}" pid="10" name="ShareDoc">
    <vt:bool>0</vt:bool>
  </property>
  <property fmtid="{D5CDD505-2E9C-101B-9397-08002B2CF9AE}" pid="11" name="Slides">
    <vt:i4>9</vt:i4>
  </property>
</Properties>
</file>